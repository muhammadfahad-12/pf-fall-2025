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Gatwick Ultra-Bold" charset="1" panose="00000900000000000000"/>
      <p:regular r:id="rId23"/>
    </p:embeddedFont>
    <p:embeddedFont>
      <p:font typeface="Codec Pro Ultra-Bold" charset="1" panose="00000700000000000000"/>
      <p:regular r:id="rId24"/>
    </p:embeddedFont>
    <p:embeddedFont>
      <p:font typeface="Codec Pro" charset="1" panose="00000500000000000000"/>
      <p:regular r:id="rId25"/>
    </p:embeddedFont>
    <p:embeddedFont>
      <p:font typeface="Codec Pro Bold" charset="1" panose="000006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296" r="0" b="-296"/>
              </a:stretch>
            </a:blipFill>
            <a:ln w="38100" cap="rnd">
              <a:solidFill>
                <a:srgbClr val="000000"/>
              </a:solidFill>
              <a:prstDash val="solid"/>
              <a:round/>
            </a:ln>
          </p:spPr>
        </p:sp>
      </p:grpSp>
      <p:sp>
        <p:nvSpPr>
          <p:cNvPr name="TextBox 7" id="7"/>
          <p:cNvSpPr txBox="true"/>
          <p:nvPr/>
        </p:nvSpPr>
        <p:spPr>
          <a:xfrm rot="0">
            <a:off x="1800225" y="2667020"/>
            <a:ext cx="7496175" cy="4610100"/>
          </a:xfrm>
          <a:prstGeom prst="rect">
            <a:avLst/>
          </a:prstGeom>
        </p:spPr>
        <p:txBody>
          <a:bodyPr anchor="t" rtlCol="false" tIns="0" lIns="0" bIns="0" rIns="0">
            <a:spAutoFit/>
          </a:bodyPr>
          <a:lstStyle/>
          <a:p>
            <a:pPr algn="ctr" marL="0" indent="0" lvl="0">
              <a:lnSpc>
                <a:spcPts val="8999"/>
              </a:lnSpc>
            </a:pPr>
            <a:r>
              <a:rPr lang="en-US" b="true" sz="7499" spc="-187">
                <a:solidFill>
                  <a:srgbClr val="0B3D91"/>
                </a:solidFill>
                <a:latin typeface="Gatwick Ultra-Bold"/>
                <a:ea typeface="Gatwick Ultra-Bold"/>
                <a:cs typeface="Gatwick Ultra-Bold"/>
                <a:sym typeface="Gatwick Ultra-Bold"/>
              </a:rPr>
              <a:t>Hospital Patient Record System</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444444"/>
                </a:solidFill>
                <a:latin typeface="Codec Pro Ultra-Bold"/>
                <a:ea typeface="Codec Pro Ultra-Bold"/>
                <a:cs typeface="Codec Pro Ultra-Bold"/>
                <a:sym typeface="Codec Pro Ultra-Bold"/>
              </a:rPr>
              <a:t>INTRODUCING AN INNOVATIVE SOLUTION</a:t>
            </a:r>
          </a:p>
        </p:txBody>
      </p:sp>
      <p:sp>
        <p:nvSpPr>
          <p:cNvPr name="TextBox 9" id="9"/>
          <p:cNvSpPr txBox="true"/>
          <p:nvPr/>
        </p:nvSpPr>
        <p:spPr>
          <a:xfrm rot="0">
            <a:off x="1800225" y="824738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444444"/>
                </a:solidFill>
                <a:latin typeface="Codec Pro Ultra-Bold"/>
                <a:ea typeface="Codec Pro Ultra-Bold"/>
                <a:cs typeface="Codec Pro Ultra-Bold"/>
                <a:sym typeface="Codec Pro Ultra-Bold"/>
              </a:rPr>
              <a:t>Developed by Team Apex Coderz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457700"/>
            <a:ext cx="4010025" cy="1323975"/>
          </a:xfrm>
          <a:prstGeom prst="rect">
            <a:avLst/>
          </a:prstGeom>
        </p:spPr>
        <p:txBody>
          <a:bodyPr anchor="t" rtlCol="false" tIns="0" lIns="0" bIns="0" rIns="0">
            <a:spAutoFit/>
          </a:bodyPr>
          <a:lstStyle/>
          <a:p>
            <a:pPr algn="ctr" marL="0" indent="0" lvl="0">
              <a:lnSpc>
                <a:spcPts val="5040"/>
              </a:lnSpc>
            </a:pPr>
            <a:r>
              <a:rPr lang="en-US" b="true" sz="4200" spc="-105">
                <a:solidFill>
                  <a:srgbClr val="444444"/>
                </a:solidFill>
                <a:latin typeface="Gatwick Ultra-Bold"/>
                <a:ea typeface="Gatwick Ultra-Bold"/>
                <a:cs typeface="Gatwick Ultra-Bold"/>
                <a:sym typeface="Gatwick Ultra-Bold"/>
              </a:rPr>
              <a:t>Introduction to System</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090863"/>
            <a:ext cx="8290275" cy="394144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a:t>
            </a:r>
            <a:r>
              <a:rPr lang="en-US" b="true" sz="2400">
                <a:solidFill>
                  <a:srgbClr val="444444"/>
                </a:solidFill>
                <a:latin typeface="Codec Pro Bold"/>
                <a:ea typeface="Codec Pro Bold"/>
                <a:cs typeface="Codec Pro Bold"/>
                <a:sym typeface="Codec Pro Bold"/>
              </a:rPr>
              <a:t>Hospital Patient Record System</a:t>
            </a:r>
            <a:r>
              <a:rPr lang="en-US" sz="2400">
                <a:solidFill>
                  <a:srgbClr val="444444"/>
                </a:solidFill>
                <a:latin typeface="Codec Pro"/>
                <a:ea typeface="Codec Pro"/>
                <a:cs typeface="Codec Pro"/>
                <a:sym typeface="Codec Pro"/>
              </a:rPr>
              <a:t> developed by Team Apex Coderz aims to revolutionize how hospitals manage patient information. By transitioning from manual record-keeping to a computerized solution, this system enhances efficiency, accuracy, and reliability. Utilizing the C programming language, the system allows for seamless storing, retrieving, updating, and deleting of patient records. This innovative approach not only simplifies record management but also paves the way for future scalability and advanced functionalities.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grpSp>
        <p:nvGrpSpPr>
          <p:cNvPr name="Group 5" id="5"/>
          <p:cNvGrpSpPr/>
          <p:nvPr/>
        </p:nvGrpSpPr>
        <p:grpSpPr>
          <a:xfrm rot="0">
            <a:off x="6909150" y="1562100"/>
            <a:ext cx="9578625" cy="3447656"/>
            <a:chOff x="0" y="0"/>
            <a:chExt cx="2522765" cy="908025"/>
          </a:xfrm>
        </p:grpSpPr>
        <p:sp>
          <p:nvSpPr>
            <p:cNvPr name="Freeform 6" id="6"/>
            <p:cNvSpPr/>
            <p:nvPr/>
          </p:nvSpPr>
          <p:spPr>
            <a:xfrm flipH="false" flipV="false" rot="0">
              <a:off x="0" y="0"/>
              <a:ext cx="2522765" cy="908025"/>
            </a:xfrm>
            <a:custGeom>
              <a:avLst/>
              <a:gdLst/>
              <a:ahLst/>
              <a:cxnLst/>
              <a:rect r="r" b="b" t="t" l="l"/>
              <a:pathLst>
                <a:path h="908025" w="2522765">
                  <a:moveTo>
                    <a:pt x="40412" y="0"/>
                  </a:moveTo>
                  <a:lnTo>
                    <a:pt x="2482353" y="0"/>
                  </a:lnTo>
                  <a:cubicBezTo>
                    <a:pt x="2493071" y="0"/>
                    <a:pt x="2503350" y="4258"/>
                    <a:pt x="2510929" y="11837"/>
                  </a:cubicBezTo>
                  <a:cubicBezTo>
                    <a:pt x="2518508" y="19415"/>
                    <a:pt x="2522765" y="29694"/>
                    <a:pt x="2522765" y="40412"/>
                  </a:cubicBezTo>
                  <a:lnTo>
                    <a:pt x="2522765" y="867612"/>
                  </a:lnTo>
                  <a:cubicBezTo>
                    <a:pt x="2522765" y="878330"/>
                    <a:pt x="2518508" y="888609"/>
                    <a:pt x="2510929" y="896188"/>
                  </a:cubicBezTo>
                  <a:cubicBezTo>
                    <a:pt x="2503350" y="903767"/>
                    <a:pt x="2493071" y="908025"/>
                    <a:pt x="2482353" y="908025"/>
                  </a:cubicBezTo>
                  <a:lnTo>
                    <a:pt x="40412" y="908025"/>
                  </a:lnTo>
                  <a:cubicBezTo>
                    <a:pt x="29694" y="908025"/>
                    <a:pt x="19415" y="903767"/>
                    <a:pt x="11837" y="896188"/>
                  </a:cubicBezTo>
                  <a:cubicBezTo>
                    <a:pt x="4258" y="888609"/>
                    <a:pt x="0" y="878330"/>
                    <a:pt x="0" y="867612"/>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2522765" cy="974700"/>
            </a:xfrm>
            <a:prstGeom prst="rect">
              <a:avLst/>
            </a:prstGeom>
          </p:spPr>
          <p:txBody>
            <a:bodyPr anchor="ctr" rtlCol="false" tIns="127000" lIns="127000" bIns="127000" rIns="127000"/>
            <a:lstStyle/>
            <a:p>
              <a:pPr algn="ctr" marL="0" indent="0" lvl="0">
                <a:lnSpc>
                  <a:spcPts val="3120"/>
                </a:lnSpc>
              </a:pPr>
            </a:p>
          </p:txBody>
        </p:sp>
      </p:grpSp>
      <p:grpSp>
        <p:nvGrpSpPr>
          <p:cNvPr name="Group 8" id="8"/>
          <p:cNvGrpSpPr/>
          <p:nvPr/>
        </p:nvGrpSpPr>
        <p:grpSpPr>
          <a:xfrm rot="0">
            <a:off x="6909150" y="5277244"/>
            <a:ext cx="9578625" cy="3447656"/>
            <a:chOff x="0" y="0"/>
            <a:chExt cx="2522765" cy="908025"/>
          </a:xfrm>
        </p:grpSpPr>
        <p:sp>
          <p:nvSpPr>
            <p:cNvPr name="Freeform 9" id="9"/>
            <p:cNvSpPr/>
            <p:nvPr/>
          </p:nvSpPr>
          <p:spPr>
            <a:xfrm flipH="false" flipV="false" rot="0">
              <a:off x="0" y="0"/>
              <a:ext cx="2522765" cy="908025"/>
            </a:xfrm>
            <a:custGeom>
              <a:avLst/>
              <a:gdLst/>
              <a:ahLst/>
              <a:cxnLst/>
              <a:rect r="r" b="b" t="t" l="l"/>
              <a:pathLst>
                <a:path h="908025" w="2522765">
                  <a:moveTo>
                    <a:pt x="40412" y="0"/>
                  </a:moveTo>
                  <a:lnTo>
                    <a:pt x="2482353" y="0"/>
                  </a:lnTo>
                  <a:cubicBezTo>
                    <a:pt x="2493071" y="0"/>
                    <a:pt x="2503350" y="4258"/>
                    <a:pt x="2510929" y="11837"/>
                  </a:cubicBezTo>
                  <a:cubicBezTo>
                    <a:pt x="2518508" y="19415"/>
                    <a:pt x="2522765" y="29694"/>
                    <a:pt x="2522765" y="40412"/>
                  </a:cubicBezTo>
                  <a:lnTo>
                    <a:pt x="2522765" y="867612"/>
                  </a:lnTo>
                  <a:cubicBezTo>
                    <a:pt x="2522765" y="878330"/>
                    <a:pt x="2518508" y="888609"/>
                    <a:pt x="2510929" y="896188"/>
                  </a:cubicBezTo>
                  <a:cubicBezTo>
                    <a:pt x="2503350" y="903767"/>
                    <a:pt x="2493071" y="908025"/>
                    <a:pt x="2482353" y="908025"/>
                  </a:cubicBezTo>
                  <a:lnTo>
                    <a:pt x="40412" y="908025"/>
                  </a:lnTo>
                  <a:cubicBezTo>
                    <a:pt x="29694" y="908025"/>
                    <a:pt x="19415" y="903767"/>
                    <a:pt x="11837" y="896188"/>
                  </a:cubicBezTo>
                  <a:cubicBezTo>
                    <a:pt x="4258" y="888609"/>
                    <a:pt x="0" y="878330"/>
                    <a:pt x="0" y="867612"/>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2522765" cy="974700"/>
            </a:xfrm>
            <a:prstGeom prst="rect">
              <a:avLst/>
            </a:prstGeom>
          </p:spPr>
          <p:txBody>
            <a:bodyPr anchor="ctr" rtlCol="false" tIns="127000" lIns="127000" bIns="127000" rIns="127000"/>
            <a:lstStyle/>
            <a:p>
              <a:pPr algn="ctr" marL="0" indent="0" lvl="0">
                <a:lnSpc>
                  <a:spcPts val="3120"/>
                </a:lnSpc>
              </a:pPr>
            </a:p>
          </p:txBody>
        </p:sp>
      </p:grpSp>
      <p:sp>
        <p:nvSpPr>
          <p:cNvPr name="TextBox 11" id="11"/>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444444"/>
                </a:solidFill>
                <a:latin typeface="Gatwick Ultra-Bold"/>
                <a:ea typeface="Gatwick Ultra-Bold"/>
                <a:cs typeface="Gatwick Ultra-Bold"/>
                <a:sym typeface="Gatwick Ultra-Bold"/>
              </a:rPr>
              <a:t>Project Overview</a:t>
            </a:r>
          </a:p>
        </p:txBody>
      </p:sp>
      <p:sp>
        <p:nvSpPr>
          <p:cNvPr name="TextBox 12" id="12"/>
          <p:cNvSpPr txBox="true"/>
          <p:nvPr/>
        </p:nvSpPr>
        <p:spPr>
          <a:xfrm rot="0">
            <a:off x="7553325" y="6168587"/>
            <a:ext cx="8290275" cy="1598295"/>
          </a:xfrm>
          <a:prstGeom prst="rect">
            <a:avLst/>
          </a:prstGeom>
        </p:spPr>
        <p:txBody>
          <a:bodyPr anchor="t" rtlCol="false" tIns="0" lIns="0" bIns="0" rIns="0">
            <a:spAutoFit/>
          </a:bodyPr>
          <a:lstStyle/>
          <a:p>
            <a:pPr algn="ctr" marL="0" indent="0" lvl="0">
              <a:lnSpc>
                <a:spcPts val="3120"/>
              </a:lnSpc>
            </a:pPr>
            <a:r>
              <a:rPr lang="en-US" sz="2400" strike="noStrike" u="none">
                <a:solidFill>
                  <a:srgbClr val="444444"/>
                </a:solidFill>
                <a:latin typeface="Codec Pro"/>
                <a:ea typeface="Codec Pro"/>
                <a:cs typeface="Codec Pro"/>
                <a:sym typeface="Codec Pro"/>
              </a:rPr>
              <a:t>Driven by the need to replace outdated manual methods, this system is developed in C language, combining simplicity and functionality to address real-world healthcare challenges effectively.</a:t>
            </a:r>
          </a:p>
        </p:txBody>
      </p:sp>
      <p:sp>
        <p:nvSpPr>
          <p:cNvPr name="TextBox 13" id="13"/>
          <p:cNvSpPr txBox="true"/>
          <p:nvPr/>
        </p:nvSpPr>
        <p:spPr>
          <a:xfrm rot="0">
            <a:off x="7553325" y="2062918"/>
            <a:ext cx="8290275" cy="237934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a:t>
            </a:r>
            <a:r>
              <a:rPr lang="en-US" b="true" sz="2400">
                <a:solidFill>
                  <a:srgbClr val="444444"/>
                </a:solidFill>
                <a:latin typeface="Codec Pro Bold"/>
                <a:ea typeface="Codec Pro Bold"/>
                <a:cs typeface="Codec Pro Bold"/>
                <a:sym typeface="Codec Pro Bold"/>
              </a:rPr>
              <a:t>Hospital Patient Record System</a:t>
            </a:r>
            <a:r>
              <a:rPr lang="en-US" sz="2400">
                <a:solidFill>
                  <a:srgbClr val="444444"/>
                </a:solidFill>
                <a:latin typeface="Codec Pro"/>
                <a:ea typeface="Codec Pro"/>
                <a:cs typeface="Codec Pro"/>
                <a:sym typeface="Codec Pro"/>
              </a:rPr>
              <a:t> is designed to efficiently manage patient information within hospitals. It allows users to store, retrieve, update, and delete patient data, ensuring accuracy and quick access to vital health records in a streamlined manner, enhancing overall operational efficiency.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444444"/>
                </a:solidFill>
                <a:latin typeface="Gatwick Ultra-Bold"/>
                <a:ea typeface="Gatwick Ultra-Bold"/>
                <a:cs typeface="Gatwick Ultra-Bold"/>
                <a:sym typeface="Gatwick Ultra-Bold"/>
              </a:rPr>
              <a:t>Project Abstract</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2895600"/>
            <a:ext cx="8290275" cy="433197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a:t>
            </a:r>
            <a:r>
              <a:rPr lang="en-US" b="true" sz="2400">
                <a:solidFill>
                  <a:srgbClr val="444444"/>
                </a:solidFill>
                <a:latin typeface="Codec Pro Bold"/>
                <a:ea typeface="Codec Pro Bold"/>
                <a:cs typeface="Codec Pro Bold"/>
                <a:sym typeface="Codec Pro Bold"/>
              </a:rPr>
              <a:t>Hospital Patient Record System</a:t>
            </a:r>
            <a:r>
              <a:rPr lang="en-US" sz="2400">
                <a:solidFill>
                  <a:srgbClr val="444444"/>
                </a:solidFill>
                <a:latin typeface="Codec Pro"/>
                <a:ea typeface="Codec Pro"/>
                <a:cs typeface="Codec Pro"/>
                <a:sym typeface="Codec Pro"/>
              </a:rPr>
              <a:t> streamlines hospital record-keeping by managing patient information efficiently. Developed in C language, it allows users to store, retrieve, update, and delete patient data effortlessly. The system employs modular programming principles, utilizing arrays and functions to ensure organized data management. With a lightweight text-based interface, it is designed for ease of use and scalability, paving the way for future enhancements such as graphical user interfaces and integration with larger databases.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371975"/>
            <a:ext cx="4010025" cy="1485900"/>
          </a:xfrm>
          <a:prstGeom prst="rect">
            <a:avLst/>
          </a:prstGeom>
        </p:spPr>
        <p:txBody>
          <a:bodyPr anchor="t" rtlCol="false" tIns="0" lIns="0" bIns="0" rIns="0">
            <a:spAutoFit/>
          </a:bodyPr>
          <a:lstStyle/>
          <a:p>
            <a:pPr algn="ctr" marL="0" indent="0" lvl="0">
              <a:lnSpc>
                <a:spcPts val="5670"/>
              </a:lnSpc>
            </a:pPr>
            <a:r>
              <a:rPr lang="en-US" b="true" sz="4725" spc="-118">
                <a:solidFill>
                  <a:srgbClr val="444444"/>
                </a:solidFill>
                <a:latin typeface="Gatwick Ultra-Bold"/>
                <a:ea typeface="Gatwick Ultra-Bold"/>
                <a:cs typeface="Gatwick Ultra-Bold"/>
                <a:sym typeface="Gatwick Ultra-Bold"/>
              </a:rPr>
              <a:t>Problem Statement</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286125"/>
            <a:ext cx="8290275" cy="355092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a:t>
            </a:r>
            <a:r>
              <a:rPr lang="en-US" b="true" sz="2400">
                <a:solidFill>
                  <a:srgbClr val="444444"/>
                </a:solidFill>
                <a:latin typeface="Codec Pro Bold"/>
                <a:ea typeface="Codec Pro Bold"/>
                <a:cs typeface="Codec Pro Bold"/>
                <a:sym typeface="Codec Pro Bold"/>
              </a:rPr>
              <a:t>inefficiencies of manual record-keeping</a:t>
            </a:r>
            <a:r>
              <a:rPr lang="en-US" sz="2400">
                <a:solidFill>
                  <a:srgbClr val="444444"/>
                </a:solidFill>
                <a:latin typeface="Codec Pro"/>
                <a:ea typeface="Codec Pro"/>
                <a:cs typeface="Codec Pro"/>
                <a:sym typeface="Codec Pro"/>
              </a:rPr>
              <a:t> in hospitals often lead to significant errors, duplication of data, and slow access to vital information. This outdated system hinders the ability to provide timely and accurate patient care. By transitioning to a computerized system, we aim to eliminate these inefficiencies, ensuring improved accuracy and reliability in managing patient records. Our project seeks to establish a systematic approach to data management that is both scalable and efficient.</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sp>
        <p:nvSpPr>
          <p:cNvPr name="TextBox 14" id="14"/>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444444"/>
                </a:solidFill>
                <a:latin typeface="Gatwick Ultra-Bold"/>
                <a:ea typeface="Gatwick Ultra-Bold"/>
                <a:cs typeface="Gatwick Ultra-Bold"/>
                <a:sym typeface="Gatwick Ultra-Bold"/>
              </a:rPr>
              <a:t>Need for Automation</a:t>
            </a:r>
          </a:p>
        </p:txBody>
      </p:sp>
      <p:sp>
        <p:nvSpPr>
          <p:cNvPr name="TextBox 15" id="15"/>
          <p:cNvSpPr txBox="true"/>
          <p:nvPr/>
        </p:nvSpPr>
        <p:spPr>
          <a:xfrm rot="0">
            <a:off x="2202924" y="4631085"/>
            <a:ext cx="4010025" cy="3160395"/>
          </a:xfrm>
          <a:prstGeom prst="rect">
            <a:avLst/>
          </a:prstGeom>
        </p:spPr>
        <p:txBody>
          <a:bodyPr anchor="t" rtlCol="false" tIns="0" lIns="0" bIns="0" rIns="0">
            <a:spAutoFit/>
          </a:bodyPr>
          <a:lstStyle/>
          <a:p>
            <a:pPr algn="ctr" marL="0" indent="0" lvl="0">
              <a:lnSpc>
                <a:spcPts val="3120"/>
              </a:lnSpc>
            </a:pPr>
            <a:r>
              <a:rPr lang="en-US" sz="2400" strike="noStrike" u="none">
                <a:solidFill>
                  <a:srgbClr val="444444"/>
                </a:solidFill>
                <a:latin typeface="Codec Pro"/>
                <a:ea typeface="Codec Pro"/>
                <a:cs typeface="Codec Pro"/>
                <a:sym typeface="Codec Pro"/>
              </a:rPr>
              <a:t>Accuracy in patient record-keeping is essential; a computerized system minimizes human errors, ensuring that medical information is precise and up-to-date for better patient care.</a:t>
            </a:r>
          </a:p>
        </p:txBody>
      </p:sp>
      <p:sp>
        <p:nvSpPr>
          <p:cNvPr name="TextBox 16" id="16"/>
          <p:cNvSpPr txBox="true"/>
          <p:nvPr/>
        </p:nvSpPr>
        <p:spPr>
          <a:xfrm rot="0">
            <a:off x="7187937" y="4631085"/>
            <a:ext cx="4010025" cy="3550920"/>
          </a:xfrm>
          <a:prstGeom prst="rect">
            <a:avLst/>
          </a:prstGeom>
        </p:spPr>
        <p:txBody>
          <a:bodyPr anchor="t" rtlCol="false" tIns="0" lIns="0" bIns="0" rIns="0">
            <a:spAutoFit/>
          </a:bodyPr>
          <a:lstStyle/>
          <a:p>
            <a:pPr algn="ctr" marL="0" indent="0" lvl="0">
              <a:lnSpc>
                <a:spcPts val="3120"/>
              </a:lnSpc>
            </a:pPr>
            <a:r>
              <a:rPr lang="en-US" sz="2400" strike="noStrike" u="none">
                <a:solidFill>
                  <a:srgbClr val="444444"/>
                </a:solidFill>
                <a:latin typeface="Codec Pro"/>
                <a:ea typeface="Codec Pro"/>
                <a:cs typeface="Codec Pro"/>
                <a:sym typeface="Codec Pro"/>
              </a:rPr>
              <a:t>Reliability is greatly improved with automation; electronic systems provide consistent access to patient records, reducing the risk of lost or misplaced documentation, thus enhancing overall operational efficiency.</a:t>
            </a:r>
          </a:p>
        </p:txBody>
      </p:sp>
      <p:sp>
        <p:nvSpPr>
          <p:cNvPr name="TextBox 17" id="17"/>
          <p:cNvSpPr txBox="true"/>
          <p:nvPr/>
        </p:nvSpPr>
        <p:spPr>
          <a:xfrm rot="0">
            <a:off x="12172950" y="4631085"/>
            <a:ext cx="4010025" cy="3160395"/>
          </a:xfrm>
          <a:prstGeom prst="rect">
            <a:avLst/>
          </a:prstGeom>
        </p:spPr>
        <p:txBody>
          <a:bodyPr anchor="t" rtlCol="false" tIns="0" lIns="0" bIns="0" rIns="0">
            <a:spAutoFit/>
          </a:bodyPr>
          <a:lstStyle/>
          <a:p>
            <a:pPr algn="ctr" marL="0" indent="0" lvl="0">
              <a:lnSpc>
                <a:spcPts val="3120"/>
              </a:lnSpc>
            </a:pPr>
            <a:r>
              <a:rPr lang="en-US" sz="2400" strike="noStrike" u="none">
                <a:solidFill>
                  <a:srgbClr val="444444"/>
                </a:solidFill>
                <a:latin typeface="Codec Pro"/>
                <a:ea typeface="Codec Pro"/>
                <a:cs typeface="Codec Pro"/>
                <a:sym typeface="Codec Pro"/>
              </a:rPr>
              <a:t>Scalability is crucial for growth; an automated system can easily adapt to increasing patient data as hospitals expand, ensuring that the management of records remains efficient and effective.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362450"/>
            <a:ext cx="4010025" cy="1504950"/>
          </a:xfrm>
          <a:prstGeom prst="rect">
            <a:avLst/>
          </a:prstGeom>
        </p:spPr>
        <p:txBody>
          <a:bodyPr anchor="t" rtlCol="false" tIns="0" lIns="0" bIns="0" rIns="0">
            <a:spAutoFit/>
          </a:bodyPr>
          <a:lstStyle/>
          <a:p>
            <a:pPr algn="ctr" marL="0" indent="0" lvl="0">
              <a:lnSpc>
                <a:spcPts val="5759"/>
              </a:lnSpc>
            </a:pPr>
            <a:r>
              <a:rPr lang="en-US" b="true" sz="4800" spc="-120">
                <a:solidFill>
                  <a:srgbClr val="444444"/>
                </a:solidFill>
                <a:latin typeface="Gatwick Ultra-Bold"/>
                <a:ea typeface="Gatwick Ultra-Bold"/>
                <a:cs typeface="Gatwick Ultra-Bold"/>
                <a:sym typeface="Gatwick Ultra-Bold"/>
              </a:rPr>
              <a:t>Project Objectives</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2895600"/>
            <a:ext cx="8290275" cy="433197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primary goal of the Hospital Patient Record System is to develop an </a:t>
            </a:r>
            <a:r>
              <a:rPr lang="en-US" b="true" sz="2400">
                <a:solidFill>
                  <a:srgbClr val="444444"/>
                </a:solidFill>
                <a:latin typeface="Codec Pro Bold"/>
                <a:ea typeface="Codec Pro Bold"/>
                <a:cs typeface="Codec Pro Bold"/>
                <a:sym typeface="Codec Pro Bold"/>
              </a:rPr>
              <a:t>automated solution</a:t>
            </a:r>
            <a:r>
              <a:rPr lang="en-US" sz="2400">
                <a:solidFill>
                  <a:srgbClr val="444444"/>
                </a:solidFill>
                <a:latin typeface="Codec Pro"/>
                <a:ea typeface="Codec Pro"/>
                <a:cs typeface="Codec Pro"/>
                <a:sym typeface="Codec Pro"/>
              </a:rPr>
              <a:t> to enhance hospital record management. Key objectives include implementing modular programming in C, ensuring ease of maintenance through </a:t>
            </a:r>
            <a:r>
              <a:rPr lang="en-US" b="true" sz="2400">
                <a:solidFill>
                  <a:srgbClr val="444444"/>
                </a:solidFill>
                <a:latin typeface="Codec Pro Bold"/>
                <a:ea typeface="Codec Pro Bold"/>
                <a:cs typeface="Codec Pro Bold"/>
                <a:sym typeface="Codec Pro Bold"/>
              </a:rPr>
              <a:t>separate functions</a:t>
            </a:r>
            <a:r>
              <a:rPr lang="en-US" sz="2400">
                <a:solidFill>
                  <a:srgbClr val="444444"/>
                </a:solidFill>
                <a:latin typeface="Codec Pro"/>
                <a:ea typeface="Codec Pro"/>
                <a:cs typeface="Codec Pro"/>
                <a:sym typeface="Codec Pro"/>
              </a:rPr>
              <a:t> for adding, updating, deleting, and retrieving patient information. The project aims to utilize arrays and loops for structured data management, incorporate input validation, and provide a user-friendly command-line interface that facilitates efficient access to patient records and statistical insights.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0B3D91"/>
                </a:solidFill>
                <a:latin typeface="Gatwick Ultra-Bold"/>
                <a:ea typeface="Gatwick Ultra-Bold"/>
                <a:cs typeface="Gatwick Ultra-Bold"/>
                <a:sym typeface="Gatwick Ultra-Bold"/>
              </a:rPr>
              <a:t>Program Design and Logic Overview</a:t>
            </a:r>
          </a:p>
        </p:txBody>
      </p:sp>
      <p:grpSp>
        <p:nvGrpSpPr>
          <p:cNvPr name="Group 15" id="15"/>
          <p:cNvGrpSpPr/>
          <p:nvPr/>
        </p:nvGrpSpPr>
        <p:grpSpPr>
          <a:xfrm rot="0">
            <a:off x="2178450" y="4248150"/>
            <a:ext cx="3961075" cy="3539463"/>
            <a:chOff x="0" y="0"/>
            <a:chExt cx="5281434" cy="4719284"/>
          </a:xfrm>
        </p:grpSpPr>
        <p:sp>
          <p:nvSpPr>
            <p:cNvPr name="TextBox 16" id="16"/>
            <p:cNvSpPr txBox="true"/>
            <p:nvPr/>
          </p:nvSpPr>
          <p:spPr>
            <a:xfrm rot="0">
              <a:off x="0" y="527649"/>
              <a:ext cx="5281434" cy="419163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system employs a </a:t>
              </a:r>
              <a:r>
                <a:rPr lang="en-US" b="true" sz="2400">
                  <a:solidFill>
                    <a:srgbClr val="444444"/>
                  </a:solidFill>
                  <a:latin typeface="Codec Pro Bold"/>
                  <a:ea typeface="Codec Pro Bold"/>
                  <a:cs typeface="Codec Pro Bold"/>
                  <a:sym typeface="Codec Pro Bold"/>
                </a:rPr>
                <a:t>modular architecture</a:t>
              </a:r>
              <a:r>
                <a:rPr lang="en-US" sz="2400">
                  <a:solidFill>
                    <a:srgbClr val="444444"/>
                  </a:solidFill>
                  <a:latin typeface="Codec Pro"/>
                  <a:ea typeface="Codec Pro"/>
                  <a:cs typeface="Codec Pro"/>
                  <a:sym typeface="Codec Pro"/>
                </a:rPr>
                <a:t>, allowing for separation of functionalities, enhancing maintainability, and enabling isolated testing of individual modules for better reliability.</a:t>
              </a:r>
            </a:p>
          </p:txBody>
        </p:sp>
        <p:sp>
          <p:nvSpPr>
            <p:cNvPr name="TextBox 17" id="17"/>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Modular Architecture</a:t>
              </a:r>
            </a:p>
          </p:txBody>
        </p:sp>
      </p:grpSp>
      <p:grpSp>
        <p:nvGrpSpPr>
          <p:cNvPr name="Group 18" id="18"/>
          <p:cNvGrpSpPr/>
          <p:nvPr/>
        </p:nvGrpSpPr>
        <p:grpSpPr>
          <a:xfrm rot="0">
            <a:off x="7163462" y="4248150"/>
            <a:ext cx="3961075" cy="3930015"/>
            <a:chOff x="0" y="0"/>
            <a:chExt cx="5281434" cy="5240020"/>
          </a:xfrm>
        </p:grpSpPr>
        <p:sp>
          <p:nvSpPr>
            <p:cNvPr name="TextBox 19" id="19"/>
            <p:cNvSpPr txBox="true"/>
            <p:nvPr/>
          </p:nvSpPr>
          <p:spPr>
            <a:xfrm rot="0">
              <a:off x="0" y="527685"/>
              <a:ext cx="5281434" cy="471233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Arrays are utilized for storing </a:t>
              </a:r>
              <a:r>
                <a:rPr lang="en-US" b="true" sz="2400">
                  <a:solidFill>
                    <a:srgbClr val="444444"/>
                  </a:solidFill>
                  <a:latin typeface="Codec Pro Bold"/>
                  <a:ea typeface="Codec Pro Bold"/>
                  <a:cs typeface="Codec Pro Bold"/>
                  <a:sym typeface="Codec Pro Bold"/>
                </a:rPr>
                <a:t>patient information</a:t>
              </a:r>
              <a:r>
                <a:rPr lang="en-US" sz="2400">
                  <a:solidFill>
                    <a:srgbClr val="444444"/>
                  </a:solidFill>
                  <a:latin typeface="Codec Pro"/>
                  <a:ea typeface="Codec Pro"/>
                  <a:cs typeface="Codec Pro"/>
                  <a:sym typeface="Codec Pro"/>
                </a:rPr>
                <a:t>, such as names, ages, and diseases, providing structured data management and facilitating efficient data retrieval and updates.</a:t>
              </a:r>
            </a:p>
          </p:txBody>
        </p:sp>
        <p:sp>
          <p:nvSpPr>
            <p:cNvPr name="TextBox 20" id="20"/>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Data Structures</a:t>
              </a:r>
            </a:p>
          </p:txBody>
        </p:sp>
      </p:grpSp>
      <p:grpSp>
        <p:nvGrpSpPr>
          <p:cNvPr name="Group 21" id="21"/>
          <p:cNvGrpSpPr/>
          <p:nvPr/>
        </p:nvGrpSpPr>
        <p:grpSpPr>
          <a:xfrm rot="0">
            <a:off x="12148475" y="4248150"/>
            <a:ext cx="3961075" cy="3539490"/>
            <a:chOff x="0" y="0"/>
            <a:chExt cx="5281434" cy="4719320"/>
          </a:xfrm>
        </p:grpSpPr>
        <p:sp>
          <p:nvSpPr>
            <p:cNvPr name="TextBox 22" id="22"/>
            <p:cNvSpPr txBox="true"/>
            <p:nvPr/>
          </p:nvSpPr>
          <p:spPr>
            <a:xfrm rot="0">
              <a:off x="0" y="527685"/>
              <a:ext cx="5281434" cy="419163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Key modules include input, display, search, deletion, and report functionalities, each encapsulated in specific functions to optimize performance and create a streamlined user experience.</a:t>
              </a:r>
            </a:p>
          </p:txBody>
        </p:sp>
        <p:sp>
          <p:nvSpPr>
            <p:cNvPr name="TextBox 23" id="23"/>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Main Modules</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371975"/>
            <a:ext cx="4010025" cy="1485900"/>
          </a:xfrm>
          <a:prstGeom prst="rect">
            <a:avLst/>
          </a:prstGeom>
        </p:spPr>
        <p:txBody>
          <a:bodyPr anchor="t" rtlCol="false" tIns="0" lIns="0" bIns="0" rIns="0">
            <a:spAutoFit/>
          </a:bodyPr>
          <a:lstStyle/>
          <a:p>
            <a:pPr algn="ctr" marL="0" indent="0" lvl="0">
              <a:lnSpc>
                <a:spcPts val="5670"/>
              </a:lnSpc>
            </a:pPr>
            <a:r>
              <a:rPr lang="en-US" b="true" sz="4725" spc="-118">
                <a:solidFill>
                  <a:srgbClr val="444444"/>
                </a:solidFill>
                <a:latin typeface="Gatwick Ultra-Bold"/>
                <a:ea typeface="Gatwick Ultra-Bold"/>
                <a:cs typeface="Gatwick Ultra-Bold"/>
                <a:sym typeface="Gatwick Ultra-Bold"/>
              </a:rPr>
              <a:t>Data Structures</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286125"/>
            <a:ext cx="8290275" cy="355092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In the Hospital Patient Record System, </a:t>
            </a:r>
            <a:r>
              <a:rPr lang="en-US" b="true" sz="2400">
                <a:solidFill>
                  <a:srgbClr val="444444"/>
                </a:solidFill>
                <a:latin typeface="Codec Pro Bold"/>
                <a:ea typeface="Codec Pro Bold"/>
                <a:cs typeface="Codec Pro Bold"/>
                <a:sym typeface="Codec Pro Bold"/>
              </a:rPr>
              <a:t>arrays</a:t>
            </a:r>
            <a:r>
              <a:rPr lang="en-US" sz="2400">
                <a:solidFill>
                  <a:srgbClr val="444444"/>
                </a:solidFill>
                <a:latin typeface="Codec Pro"/>
                <a:ea typeface="Codec Pro"/>
                <a:cs typeface="Codec Pro"/>
                <a:sym typeface="Codec Pro"/>
              </a:rPr>
              <a:t> play a crucial role in managing patient information efficiently. They are used to store data such as patient names, ages, and diseases in a structured manner. Each array allows for quick access and manipulation of patient records, enabling operations like searching, updating, and deleting information. This approach ensures that the system remains scalable, maintaining performance even as the number of records increases over time.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0B3D91"/>
                </a:solidFill>
                <a:latin typeface="Gatwick Ultra-Bold"/>
                <a:ea typeface="Gatwick Ultra-Bold"/>
                <a:cs typeface="Gatwick Ultra-Bold"/>
                <a:sym typeface="Gatwick Ultra-Bold"/>
              </a:rPr>
              <a:t>Program Flowchart</a:t>
            </a:r>
          </a:p>
        </p:txBody>
      </p:sp>
      <p:grpSp>
        <p:nvGrpSpPr>
          <p:cNvPr name="Group 6" id="6"/>
          <p:cNvGrpSpPr/>
          <p:nvPr/>
        </p:nvGrpSpPr>
        <p:grpSpPr>
          <a:xfrm rot="0">
            <a:off x="1800225" y="3352800"/>
            <a:ext cx="9572156" cy="5372100"/>
            <a:chOff x="0" y="0"/>
            <a:chExt cx="1347420" cy="756201"/>
          </a:xfrm>
        </p:grpSpPr>
        <p:sp>
          <p:nvSpPr>
            <p:cNvPr name="Freeform 7" id="7"/>
            <p:cNvSpPr/>
            <p:nvPr/>
          </p:nvSpPr>
          <p:spPr>
            <a:xfrm flipH="false" flipV="false" rot="0">
              <a:off x="0" y="0"/>
              <a:ext cx="1347420" cy="756201"/>
            </a:xfrm>
            <a:custGeom>
              <a:avLst/>
              <a:gdLst/>
              <a:ahLst/>
              <a:cxnLst/>
              <a:rect r="r" b="b" t="t" l="l"/>
              <a:pathLst>
                <a:path h="756201" w="1347420">
                  <a:moveTo>
                    <a:pt x="40440" y="0"/>
                  </a:moveTo>
                  <a:lnTo>
                    <a:pt x="1306980" y="0"/>
                  </a:lnTo>
                  <a:cubicBezTo>
                    <a:pt x="1317705" y="0"/>
                    <a:pt x="1327991" y="4261"/>
                    <a:pt x="1335575" y="11845"/>
                  </a:cubicBezTo>
                  <a:cubicBezTo>
                    <a:pt x="1343159" y="19428"/>
                    <a:pt x="1347420" y="29714"/>
                    <a:pt x="1347420" y="40440"/>
                  </a:cubicBezTo>
                  <a:lnTo>
                    <a:pt x="1347420" y="715761"/>
                  </a:lnTo>
                  <a:cubicBezTo>
                    <a:pt x="1347420" y="726487"/>
                    <a:pt x="1343159" y="736773"/>
                    <a:pt x="1335575" y="744357"/>
                  </a:cubicBezTo>
                  <a:cubicBezTo>
                    <a:pt x="1327991" y="751940"/>
                    <a:pt x="1317705" y="756201"/>
                    <a:pt x="1306980" y="756201"/>
                  </a:cubicBezTo>
                  <a:lnTo>
                    <a:pt x="40440" y="756201"/>
                  </a:lnTo>
                  <a:cubicBezTo>
                    <a:pt x="18106" y="756201"/>
                    <a:pt x="0" y="738095"/>
                    <a:pt x="0" y="715761"/>
                  </a:cubicBezTo>
                  <a:lnTo>
                    <a:pt x="0" y="40440"/>
                  </a:lnTo>
                  <a:cubicBezTo>
                    <a:pt x="0" y="29714"/>
                    <a:pt x="4261" y="19428"/>
                    <a:pt x="11845" y="11845"/>
                  </a:cubicBezTo>
                  <a:cubicBezTo>
                    <a:pt x="19428" y="4261"/>
                    <a:pt x="29714" y="0"/>
                    <a:pt x="40440" y="0"/>
                  </a:cubicBezTo>
                  <a:close/>
                </a:path>
              </a:pathLst>
            </a:custGeom>
            <a:blipFill>
              <a:blip r:embed="rId2"/>
              <a:stretch>
                <a:fillRect l="-109" t="0" r="-109" b="0"/>
              </a:stretch>
            </a:blipFill>
            <a:ln w="38100" cap="rnd">
              <a:solidFill>
                <a:srgbClr val="000000"/>
              </a:solidFill>
              <a:prstDash val="solid"/>
              <a:round/>
            </a:ln>
          </p:spPr>
        </p:sp>
      </p:grpSp>
      <p:grpSp>
        <p:nvGrpSpPr>
          <p:cNvPr name="Group 8" id="8"/>
          <p:cNvGrpSpPr/>
          <p:nvPr/>
        </p:nvGrpSpPr>
        <p:grpSpPr>
          <a:xfrm rot="0">
            <a:off x="12172950" y="5440680"/>
            <a:ext cx="4314825" cy="1196340"/>
            <a:chOff x="0" y="0"/>
            <a:chExt cx="5753100" cy="1595120"/>
          </a:xfrm>
        </p:grpSpPr>
        <p:sp>
          <p:nvSpPr>
            <p:cNvPr name="TextBox 9" id="9"/>
            <p:cNvSpPr txBox="true"/>
            <p:nvPr/>
          </p:nvSpPr>
          <p:spPr>
            <a:xfrm rot="0">
              <a:off x="0" y="527685"/>
              <a:ext cx="5753100" cy="106743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Flowchart illustrating program process steps.</a:t>
              </a:r>
            </a:p>
          </p:txBody>
        </p:sp>
        <p:sp>
          <p:nvSpPr>
            <p:cNvPr name="TextBox 10" id="10"/>
            <p:cNvSpPr txBox="true"/>
            <p:nvPr/>
          </p:nvSpPr>
          <p:spPr>
            <a:xfrm rot="0">
              <a:off x="0" y="-66675"/>
              <a:ext cx="5753100"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Process Overview</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0B3D91"/>
                </a:solidFill>
                <a:latin typeface="Gatwick Ultra-Bold"/>
                <a:ea typeface="Gatwick Ultra-Bold"/>
                <a:cs typeface="Gatwick Ultra-Bold"/>
                <a:sym typeface="Gatwick Ultra-Bold"/>
              </a:rPr>
              <a:t>Key Features of the Code Implementation</a:t>
            </a:r>
          </a:p>
        </p:txBody>
      </p:sp>
      <p:grpSp>
        <p:nvGrpSpPr>
          <p:cNvPr name="Group 15" id="15"/>
          <p:cNvGrpSpPr/>
          <p:nvPr/>
        </p:nvGrpSpPr>
        <p:grpSpPr>
          <a:xfrm rot="0">
            <a:off x="2105025" y="4248150"/>
            <a:ext cx="4010025" cy="3148965"/>
            <a:chOff x="0" y="0"/>
            <a:chExt cx="5346700" cy="4198620"/>
          </a:xfrm>
        </p:grpSpPr>
        <p:sp>
          <p:nvSpPr>
            <p:cNvPr name="TextBox 16" id="16"/>
            <p:cNvSpPr txBox="true"/>
            <p:nvPr/>
          </p:nvSpPr>
          <p:spPr>
            <a:xfrm rot="0">
              <a:off x="0" y="527685"/>
              <a:ext cx="5346700" cy="367093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program utilizes essential C standard libraries, including stdio.h for input/output operations and string.h for handling string manipulations effectively.</a:t>
              </a:r>
            </a:p>
          </p:txBody>
        </p:sp>
        <p:sp>
          <p:nvSpPr>
            <p:cNvPr name="TextBox 17" id="17"/>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Standard Libraries</a:t>
              </a:r>
            </a:p>
          </p:txBody>
        </p:sp>
      </p:grpSp>
      <p:grpSp>
        <p:nvGrpSpPr>
          <p:cNvPr name="Group 18" id="18"/>
          <p:cNvGrpSpPr/>
          <p:nvPr/>
        </p:nvGrpSpPr>
        <p:grpSpPr>
          <a:xfrm rot="0">
            <a:off x="7138988" y="4248150"/>
            <a:ext cx="4010025" cy="3539490"/>
            <a:chOff x="0" y="0"/>
            <a:chExt cx="5346700" cy="4719320"/>
          </a:xfrm>
        </p:grpSpPr>
        <p:sp>
          <p:nvSpPr>
            <p:cNvPr name="TextBox 19" id="19"/>
            <p:cNvSpPr txBox="true"/>
            <p:nvPr/>
          </p:nvSpPr>
          <p:spPr>
            <a:xfrm rot="0">
              <a:off x="0" y="527685"/>
              <a:ext cx="5346700" cy="419163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Constants define the maximum number of patients and name lengths, ensuring that memory usage is optimized and data integrity is maintained throughout program execution.</a:t>
              </a:r>
            </a:p>
          </p:txBody>
        </p:sp>
        <p:sp>
          <p:nvSpPr>
            <p:cNvPr name="TextBox 20" id="20"/>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Constants</a:t>
              </a:r>
            </a:p>
          </p:txBody>
        </p:sp>
      </p:grpSp>
      <p:grpSp>
        <p:nvGrpSpPr>
          <p:cNvPr name="Group 21" id="21"/>
          <p:cNvGrpSpPr/>
          <p:nvPr/>
        </p:nvGrpSpPr>
        <p:grpSpPr>
          <a:xfrm rot="0">
            <a:off x="12172950" y="4248213"/>
            <a:ext cx="4010025" cy="3539490"/>
            <a:chOff x="0" y="0"/>
            <a:chExt cx="5346700" cy="4719320"/>
          </a:xfrm>
        </p:grpSpPr>
        <p:sp>
          <p:nvSpPr>
            <p:cNvPr name="TextBox 22" id="22"/>
            <p:cNvSpPr txBox="true"/>
            <p:nvPr/>
          </p:nvSpPr>
          <p:spPr>
            <a:xfrm rot="0">
              <a:off x="0" y="527685"/>
              <a:ext cx="5346700" cy="4191635"/>
            </a:xfrm>
            <a:prstGeom prst="rect">
              <a:avLst/>
            </a:prstGeom>
          </p:spPr>
          <p:txBody>
            <a:bodyPr anchor="t" rtlCol="false" tIns="0" lIns="0" bIns="0" rIns="0">
              <a:spAutoFit/>
            </a:bodyPr>
            <a:lstStyle/>
            <a:p>
              <a:pPr algn="ctr" marL="0" indent="0" lvl="0">
                <a:lnSpc>
                  <a:spcPts val="3120"/>
                </a:lnSpc>
              </a:pPr>
              <a:r>
                <a:rPr lang="en-US" sz="2400" strike="noStrike" u="none">
                  <a:solidFill>
                    <a:srgbClr val="444444"/>
                  </a:solidFill>
                  <a:latin typeface="Codec Pro"/>
                  <a:ea typeface="Codec Pro"/>
                  <a:cs typeface="Codec Pro"/>
                  <a:sym typeface="Codec Pro"/>
                </a:rPr>
                <a:t>The code employs loops, conditionals, and array management, enabling efficient data handling, user input validation, and systematic processing of patient records for accurate results.</a:t>
              </a:r>
            </a:p>
          </p:txBody>
        </p:sp>
        <p:sp>
          <p:nvSpPr>
            <p:cNvPr name="TextBox 23" id="23"/>
            <p:cNvSpPr txBox="true"/>
            <p:nvPr/>
          </p:nvSpPr>
          <p:spPr>
            <a:xfrm rot="0">
              <a:off x="0" y="-66675"/>
              <a:ext cx="5346700"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Programming Constructs</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457700"/>
            <a:ext cx="4010025" cy="1323975"/>
          </a:xfrm>
          <a:prstGeom prst="rect">
            <a:avLst/>
          </a:prstGeom>
        </p:spPr>
        <p:txBody>
          <a:bodyPr anchor="t" rtlCol="false" tIns="0" lIns="0" bIns="0" rIns="0">
            <a:spAutoFit/>
          </a:bodyPr>
          <a:lstStyle/>
          <a:p>
            <a:pPr algn="ctr" marL="0" indent="0" lvl="0">
              <a:lnSpc>
                <a:spcPts val="5040"/>
              </a:lnSpc>
            </a:pPr>
            <a:r>
              <a:rPr lang="en-US" b="true" sz="4200" spc="-105">
                <a:solidFill>
                  <a:srgbClr val="444444"/>
                </a:solidFill>
                <a:latin typeface="Gatwick Ultra-Bold"/>
                <a:ea typeface="Gatwick Ultra-Bold"/>
                <a:cs typeface="Gatwick Ultra-Bold"/>
                <a:sym typeface="Gatwick Ultra-Bold"/>
              </a:rPr>
              <a:t>addPatient() Function</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286125"/>
            <a:ext cx="8290275" cy="355092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addPatient() function is designed to streamline the process of adding new patient records to the database. It prompts the user for essential details such as the patient's name, age, and medical condition. Input validation ensures that the data entered is accurate and within acceptable ranges. By utilizing arrays, this function efficiently stores patient information, enhancing the overall usability of the Hospital Patient Record System and minimizing the risk of data entry errors.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3857625"/>
            <a:ext cx="4010025" cy="2514600"/>
          </a:xfrm>
          <a:prstGeom prst="rect">
            <a:avLst/>
          </a:prstGeom>
        </p:spPr>
        <p:txBody>
          <a:bodyPr anchor="t" rtlCol="false" tIns="0" lIns="0" bIns="0" rIns="0">
            <a:spAutoFit/>
          </a:bodyPr>
          <a:lstStyle/>
          <a:p>
            <a:pPr algn="ctr" marL="0" indent="0" lvl="0">
              <a:lnSpc>
                <a:spcPts val="6480"/>
              </a:lnSpc>
            </a:pPr>
            <a:r>
              <a:rPr lang="en-US" b="true" sz="5400" spc="-135">
                <a:solidFill>
                  <a:srgbClr val="444444"/>
                </a:solidFill>
                <a:latin typeface="Gatwick Ultra-Bold"/>
                <a:ea typeface="Gatwick Ultra-Bold"/>
                <a:cs typeface="Gatwick Ultra-Bold"/>
                <a:sym typeface="Gatwick Ultra-Bold"/>
              </a:rPr>
              <a:t>Key Code Features</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2895600"/>
            <a:ext cx="8290275" cy="433197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The </a:t>
            </a:r>
            <a:r>
              <a:rPr lang="en-US" b="true" sz="2400">
                <a:solidFill>
                  <a:srgbClr val="444444"/>
                </a:solidFill>
                <a:latin typeface="Codec Pro Bold"/>
                <a:ea typeface="Codec Pro Bold"/>
                <a:cs typeface="Codec Pro Bold"/>
                <a:sym typeface="Codec Pro Bold"/>
              </a:rPr>
              <a:t>Hospital Patient Record System</a:t>
            </a:r>
            <a:r>
              <a:rPr lang="en-US" sz="2400">
                <a:solidFill>
                  <a:srgbClr val="444444"/>
                </a:solidFill>
                <a:latin typeface="Codec Pro"/>
                <a:ea typeface="Codec Pro"/>
                <a:cs typeface="Codec Pro"/>
                <a:sym typeface="Codec Pro"/>
              </a:rPr>
              <a:t> utilizes several crucial code features to ensure functionality and reliability. The menu loop keeps the program running, allowing users to make multiple entries without restarting. Input validation guarantees correct data entry, enhancing overall accuracy. Array management is essential for maintaining data integrity, while statistical computations facilitate insightful reports on patient demographics, ensuring the system is both user-friendly and efficient in handling hospital data management needs.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381500"/>
            <a:ext cx="4010025" cy="1466850"/>
          </a:xfrm>
          <a:prstGeom prst="rect">
            <a:avLst/>
          </a:prstGeom>
        </p:spPr>
        <p:txBody>
          <a:bodyPr anchor="t" rtlCol="false" tIns="0" lIns="0" bIns="0" rIns="0">
            <a:spAutoFit/>
          </a:bodyPr>
          <a:lstStyle/>
          <a:p>
            <a:pPr algn="ctr" marL="0" indent="0" lvl="0">
              <a:lnSpc>
                <a:spcPts val="5580"/>
              </a:lnSpc>
            </a:pPr>
            <a:r>
              <a:rPr lang="en-US" b="true" sz="4650" spc="-116">
                <a:solidFill>
                  <a:srgbClr val="444444"/>
                </a:solidFill>
                <a:latin typeface="Gatwick Ultra-Bold"/>
                <a:ea typeface="Gatwick Ultra-Bold"/>
                <a:cs typeface="Gatwick Ultra-Bold"/>
                <a:sym typeface="Gatwick Ultra-Bold"/>
              </a:rPr>
              <a:t>Challenges Faced</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090863"/>
            <a:ext cx="8290275" cy="3941445"/>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Throughout the development of the Hospital Patient Record System, we encountered several challenges that tested our programming skills. One significant difficulty was managing </a:t>
            </a:r>
            <a:r>
              <a:rPr lang="en-US" b="true" sz="2400">
                <a:solidFill>
                  <a:srgbClr val="444444"/>
                </a:solidFill>
                <a:latin typeface="Codec Pro Bold"/>
                <a:ea typeface="Codec Pro Bold"/>
                <a:cs typeface="Codec Pro Bold"/>
                <a:sym typeface="Codec Pro Bold"/>
              </a:rPr>
              <a:t>array element shifting</a:t>
            </a:r>
            <a:r>
              <a:rPr lang="en-US" sz="2400">
                <a:solidFill>
                  <a:srgbClr val="444444"/>
                </a:solidFill>
                <a:latin typeface="Codec Pro"/>
                <a:ea typeface="Codec Pro"/>
                <a:cs typeface="Codec Pro"/>
                <a:sym typeface="Codec Pro"/>
              </a:rPr>
              <a:t> during patient record deletion, which required careful indexing. Additionally, we faced various syntax and logic errors that surfaced during debugging, demanding thorough checks. Overcoming these obstacles not only improved our technical abilities but also enhanced our teamwork and problem-solving approaches in real-world scenarios.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444444"/>
                </a:solidFill>
                <a:latin typeface="Gatwick Ultra-Bold"/>
                <a:ea typeface="Gatwick Ultra-Bold"/>
                <a:cs typeface="Gatwick Ultra-Bold"/>
                <a:sym typeface="Gatwick Ultra-Bold"/>
              </a:rPr>
              <a:t>Lessons Learned</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2895600"/>
            <a:ext cx="8290275" cy="4331970"/>
          </a:xfrm>
          <a:prstGeom prst="rect">
            <a:avLst/>
          </a:prstGeom>
        </p:spPr>
        <p:txBody>
          <a:bodyPr anchor="t" rtlCol="false" tIns="0" lIns="0" bIns="0" rIns="0">
            <a:spAutoFit/>
          </a:bodyPr>
          <a:lstStyle/>
          <a:p>
            <a:pPr algn="ctr" marL="0" indent="0" lvl="0">
              <a:lnSpc>
                <a:spcPts val="3120"/>
              </a:lnSpc>
            </a:pPr>
            <a:r>
              <a:rPr lang="en-US" sz="2400">
                <a:solidFill>
                  <a:srgbClr val="444444"/>
                </a:solidFill>
                <a:latin typeface="Codec Pro"/>
                <a:ea typeface="Codec Pro"/>
                <a:cs typeface="Codec Pro"/>
                <a:sym typeface="Codec Pro"/>
              </a:rPr>
              <a:t>Throughout the development of the Hospital Patient Record System, we gained significant insights into structured programming. Our </a:t>
            </a:r>
            <a:r>
              <a:rPr lang="en-US" b="true" sz="2400">
                <a:solidFill>
                  <a:srgbClr val="444444"/>
                </a:solidFill>
                <a:latin typeface="Codec Pro Bold"/>
                <a:ea typeface="Codec Pro Bold"/>
                <a:cs typeface="Codec Pro Bold"/>
                <a:sym typeface="Codec Pro Bold"/>
              </a:rPr>
              <a:t>enhanced understanding</a:t>
            </a:r>
            <a:r>
              <a:rPr lang="en-US" sz="2400">
                <a:solidFill>
                  <a:srgbClr val="444444"/>
                </a:solidFill>
                <a:latin typeface="Codec Pro"/>
                <a:ea typeface="Codec Pro"/>
                <a:cs typeface="Codec Pro"/>
                <a:sym typeface="Codec Pro"/>
              </a:rPr>
              <a:t> of modular design allowed us to break down complex problems into manageable components. This approach not only improved code readability but also facilitated easier debugging and maintenance. Additionally, we learned the importance of input validation and error handling, ensuring that our program would efficiently manage user data while minimizing the risk of errors and crashes.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sp>
        <p:nvSpPr>
          <p:cNvPr name="TextBox 5" id="5"/>
          <p:cNvSpPr txBox="true"/>
          <p:nvPr/>
        </p:nvSpPr>
        <p:spPr>
          <a:xfrm rot="0">
            <a:off x="1800225" y="4676775"/>
            <a:ext cx="6057900" cy="876300"/>
          </a:xfrm>
          <a:prstGeom prst="rect">
            <a:avLst/>
          </a:prstGeom>
        </p:spPr>
        <p:txBody>
          <a:bodyPr anchor="t" rtlCol="false" tIns="0" lIns="0" bIns="0" rIns="0">
            <a:spAutoFit/>
          </a:bodyPr>
          <a:lstStyle/>
          <a:p>
            <a:pPr algn="ctr" marL="0" indent="0" lvl="0">
              <a:lnSpc>
                <a:spcPts val="6480"/>
              </a:lnSpc>
            </a:pPr>
            <a:r>
              <a:rPr lang="en-US" b="true" sz="5400" spc="-135">
                <a:solidFill>
                  <a:srgbClr val="444444"/>
                </a:solidFill>
                <a:latin typeface="Gatwick Ultra-Bold"/>
                <a:ea typeface="Gatwick Ultra-Bold"/>
                <a:cs typeface="Gatwick Ultra-Bold"/>
                <a:sym typeface="Gatwick Ultra-Bold"/>
              </a:rPr>
              <a:t>User Interface</a:t>
            </a:r>
          </a:p>
        </p:txBody>
      </p:sp>
      <p:grpSp>
        <p:nvGrpSpPr>
          <p:cNvPr name="Group 6" id="6"/>
          <p:cNvGrpSpPr/>
          <p:nvPr/>
        </p:nvGrpSpPr>
        <p:grpSpPr>
          <a:xfrm rot="0">
            <a:off x="8991600" y="1562100"/>
            <a:ext cx="7496175" cy="7162800"/>
            <a:chOff x="0" y="0"/>
            <a:chExt cx="1055195" cy="1008268"/>
          </a:xfrm>
        </p:grpSpPr>
        <p:sp>
          <p:nvSpPr>
            <p:cNvPr name="Freeform 7" id="7"/>
            <p:cNvSpPr/>
            <p:nvPr/>
          </p:nvSpPr>
          <p:spPr>
            <a:xfrm flipH="false" flipV="false" rot="0">
              <a:off x="0" y="0"/>
              <a:ext cx="1055195" cy="1008268"/>
            </a:xfrm>
            <a:custGeom>
              <a:avLst/>
              <a:gdLst/>
              <a:ahLst/>
              <a:cxnLst/>
              <a:rect r="r" b="b" t="t" l="l"/>
              <a:pathLst>
                <a:path h="1008268" w="1055195">
                  <a:moveTo>
                    <a:pt x="36147" y="0"/>
                  </a:moveTo>
                  <a:lnTo>
                    <a:pt x="1019048" y="0"/>
                  </a:lnTo>
                  <a:cubicBezTo>
                    <a:pt x="1028635" y="0"/>
                    <a:pt x="1037829" y="3808"/>
                    <a:pt x="1044608" y="10587"/>
                  </a:cubicBezTo>
                  <a:cubicBezTo>
                    <a:pt x="1051387" y="17366"/>
                    <a:pt x="1055195" y="26561"/>
                    <a:pt x="1055195" y="36147"/>
                  </a:cubicBezTo>
                  <a:lnTo>
                    <a:pt x="1055195" y="972121"/>
                  </a:lnTo>
                  <a:cubicBezTo>
                    <a:pt x="1055195" y="992084"/>
                    <a:pt x="1039012" y="1008268"/>
                    <a:pt x="1019048" y="1008268"/>
                  </a:cubicBezTo>
                  <a:lnTo>
                    <a:pt x="36147" y="1008268"/>
                  </a:lnTo>
                  <a:cubicBezTo>
                    <a:pt x="16184" y="1008268"/>
                    <a:pt x="0" y="992084"/>
                    <a:pt x="0" y="972121"/>
                  </a:cubicBezTo>
                  <a:lnTo>
                    <a:pt x="0" y="36147"/>
                  </a:lnTo>
                  <a:cubicBezTo>
                    <a:pt x="0" y="16184"/>
                    <a:pt x="16184" y="0"/>
                    <a:pt x="36147" y="0"/>
                  </a:cubicBezTo>
                  <a:close/>
                </a:path>
              </a:pathLst>
            </a:custGeom>
            <a:blipFill>
              <a:blip r:embed="rId2"/>
              <a:stretch>
                <a:fillRect l="-93" t="0" r="-93" b="0"/>
              </a:stretch>
            </a:blipFill>
            <a:ln w="38100" cap="rnd">
              <a:solidFill>
                <a:srgbClr val="000000"/>
              </a:solidFill>
              <a:prstDash val="solid"/>
              <a:round/>
            </a:ln>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9F9F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44444"/>
            </a:solidFill>
          </p:spPr>
        </p:sp>
      </p:grpSp>
      <p:grpSp>
        <p:nvGrpSpPr>
          <p:cNvPr name="Group 5" id="5"/>
          <p:cNvGrpSpPr/>
          <p:nvPr/>
        </p:nvGrpSpPr>
        <p:grpSpPr>
          <a:xfrm rot="0">
            <a:off x="7858125" y="1562100"/>
            <a:ext cx="8324850" cy="1619250"/>
            <a:chOff x="0" y="0"/>
            <a:chExt cx="11099800" cy="2159000"/>
          </a:xfrm>
        </p:grpSpPr>
        <p:sp>
          <p:nvSpPr>
            <p:cNvPr name="TextBox 6" id="6"/>
            <p:cNvSpPr txBox="true"/>
            <p:nvPr/>
          </p:nvSpPr>
          <p:spPr>
            <a:xfrm rot="0">
              <a:off x="0" y="-76200"/>
              <a:ext cx="11099800" cy="1587500"/>
            </a:xfrm>
            <a:prstGeom prst="rect">
              <a:avLst/>
            </a:prstGeom>
          </p:spPr>
          <p:txBody>
            <a:bodyPr anchor="t" rtlCol="false" tIns="0" lIns="0" bIns="0" rIns="0">
              <a:spAutoFit/>
            </a:bodyPr>
            <a:lstStyle/>
            <a:p>
              <a:pPr algn="ctr" marL="0" indent="0" lvl="0">
                <a:lnSpc>
                  <a:spcPts val="8999"/>
                </a:lnSpc>
              </a:pPr>
              <a:r>
                <a:rPr lang="en-US" b="true" sz="7499" spc="-187">
                  <a:solidFill>
                    <a:srgbClr val="0B3D91"/>
                  </a:solidFill>
                  <a:latin typeface="Gatwick Ultra-Bold"/>
                  <a:ea typeface="Gatwick Ultra-Bold"/>
                  <a:cs typeface="Gatwick Ultra-Bold"/>
                  <a:sym typeface="Gatwick Ultra-Bold"/>
                </a:rPr>
                <a:t>Conclusion</a:t>
              </a:r>
            </a:p>
          </p:txBody>
        </p:sp>
        <p:sp>
          <p:nvSpPr>
            <p:cNvPr name="TextBox 7" id="7"/>
            <p:cNvSpPr txBox="true"/>
            <p:nvPr/>
          </p:nvSpPr>
          <p:spPr>
            <a:xfrm rot="0">
              <a:off x="0" y="1599565"/>
              <a:ext cx="11099800" cy="559435"/>
            </a:xfrm>
            <a:prstGeom prst="rect">
              <a:avLst/>
            </a:prstGeom>
          </p:spPr>
          <p:txBody>
            <a:bodyPr anchor="t" rtlCol="false" tIns="0" lIns="0" bIns="0" rIns="0">
              <a:spAutoFit/>
            </a:bodyPr>
            <a:lstStyle/>
            <a:p>
              <a:pPr algn="ctr" marL="0" indent="0" lvl="0">
                <a:lnSpc>
                  <a:spcPts val="3120"/>
                </a:lnSpc>
              </a:pPr>
              <a:r>
                <a:rPr lang="en-US" b="true" sz="2400">
                  <a:solidFill>
                    <a:srgbClr val="444444"/>
                  </a:solidFill>
                  <a:latin typeface="Codec Pro Ultra-Bold"/>
                  <a:ea typeface="Codec Pro Ultra-Bold"/>
                  <a:cs typeface="Codec Pro Ultra-Bold"/>
                  <a:sym typeface="Codec Pro Ultra-Bold"/>
                </a:rPr>
                <a:t>Thank you for your attention and questions</a:t>
              </a:r>
            </a:p>
          </p:txBody>
        </p:sp>
      </p:grpSp>
      <p:grpSp>
        <p:nvGrpSpPr>
          <p:cNvPr name="Group 8" id="8"/>
          <p:cNvGrpSpPr/>
          <p:nvPr/>
        </p:nvGrpSpPr>
        <p:grpSpPr>
          <a:xfrm rot="0">
            <a:off x="8991600" y="6038870"/>
            <a:ext cx="6057900" cy="727670"/>
            <a:chOff x="0" y="0"/>
            <a:chExt cx="8077200" cy="970226"/>
          </a:xfrm>
        </p:grpSpPr>
        <p:sp>
          <p:nvSpPr>
            <p:cNvPr name="TextBox 9" id="9"/>
            <p:cNvSpPr txBox="true"/>
            <p:nvPr/>
          </p:nvSpPr>
          <p:spPr>
            <a:xfrm rot="0">
              <a:off x="0" y="-38100"/>
              <a:ext cx="8077200" cy="520700"/>
            </a:xfrm>
            <a:prstGeom prst="rect">
              <a:avLst/>
            </a:prstGeom>
          </p:spPr>
          <p:txBody>
            <a:bodyPr anchor="t" rtlCol="false" tIns="0" lIns="0" bIns="0" rIns="0">
              <a:spAutoFit/>
            </a:bodyPr>
            <a:lstStyle/>
            <a:p>
              <a:pPr algn="ctr" marL="0" indent="0" lvl="0">
                <a:lnSpc>
                  <a:spcPts val="2880"/>
                </a:lnSpc>
              </a:pPr>
              <a:r>
                <a:rPr lang="en-US" b="true" sz="2400">
                  <a:solidFill>
                    <a:srgbClr val="444444"/>
                  </a:solidFill>
                  <a:latin typeface="Codec Pro Ultra-Bold"/>
                  <a:ea typeface="Codec Pro Ultra-Bold"/>
                  <a:cs typeface="Codec Pro Ultra-Bold"/>
                  <a:sym typeface="Codec Pro Ultra-Bold"/>
                </a:rPr>
                <a:t>EMAIL</a:t>
              </a:r>
            </a:p>
          </p:txBody>
        </p:sp>
        <p:sp>
          <p:nvSpPr>
            <p:cNvPr name="TextBox 10" id="10"/>
            <p:cNvSpPr txBox="true"/>
            <p:nvPr/>
          </p:nvSpPr>
          <p:spPr>
            <a:xfrm rot="0">
              <a:off x="0" y="449526"/>
              <a:ext cx="8077200" cy="520700"/>
            </a:xfrm>
            <a:prstGeom prst="rect">
              <a:avLst/>
            </a:prstGeom>
          </p:spPr>
          <p:txBody>
            <a:bodyPr anchor="t" rtlCol="false" tIns="0" lIns="0" bIns="0" rIns="0">
              <a:spAutoFit/>
            </a:bodyPr>
            <a:lstStyle/>
            <a:p>
              <a:pPr algn="ctr" marL="0" indent="0" lvl="0">
                <a:lnSpc>
                  <a:spcPts val="2880"/>
                </a:lnSpc>
              </a:pPr>
              <a:r>
                <a:rPr lang="en-US" sz="2400">
                  <a:solidFill>
                    <a:srgbClr val="444444"/>
                  </a:solidFill>
                  <a:latin typeface="Codec Pro"/>
                  <a:ea typeface="Codec Pro"/>
                  <a:cs typeface="Codec Pro"/>
                  <a:sym typeface="Codec Pro"/>
                </a:rPr>
                <a:t>hello@reallygreatsite.com</a:t>
              </a:r>
            </a:p>
          </p:txBody>
        </p:sp>
      </p:grpSp>
      <p:grpSp>
        <p:nvGrpSpPr>
          <p:cNvPr name="Group 11" id="11"/>
          <p:cNvGrpSpPr/>
          <p:nvPr/>
        </p:nvGrpSpPr>
        <p:grpSpPr>
          <a:xfrm rot="0">
            <a:off x="8991600" y="7018060"/>
            <a:ext cx="6057900" cy="727670"/>
            <a:chOff x="0" y="0"/>
            <a:chExt cx="8077200" cy="970226"/>
          </a:xfrm>
        </p:grpSpPr>
        <p:sp>
          <p:nvSpPr>
            <p:cNvPr name="TextBox 12" id="12"/>
            <p:cNvSpPr txBox="true"/>
            <p:nvPr/>
          </p:nvSpPr>
          <p:spPr>
            <a:xfrm rot="0">
              <a:off x="0" y="-38100"/>
              <a:ext cx="8077200" cy="520700"/>
            </a:xfrm>
            <a:prstGeom prst="rect">
              <a:avLst/>
            </a:prstGeom>
          </p:spPr>
          <p:txBody>
            <a:bodyPr anchor="t" rtlCol="false" tIns="0" lIns="0" bIns="0" rIns="0">
              <a:spAutoFit/>
            </a:bodyPr>
            <a:lstStyle/>
            <a:p>
              <a:pPr algn="ctr" marL="0" indent="0" lvl="0">
                <a:lnSpc>
                  <a:spcPts val="2880"/>
                </a:lnSpc>
              </a:pPr>
              <a:r>
                <a:rPr lang="en-US" b="true" sz="2400">
                  <a:solidFill>
                    <a:srgbClr val="444444"/>
                  </a:solidFill>
                  <a:latin typeface="Codec Pro Ultra-Bold"/>
                  <a:ea typeface="Codec Pro Ultra-Bold"/>
                  <a:cs typeface="Codec Pro Ultra-Bold"/>
                  <a:sym typeface="Codec Pro Ultra-Bold"/>
                </a:rPr>
                <a:t>PHONE</a:t>
              </a:r>
            </a:p>
          </p:txBody>
        </p:sp>
        <p:sp>
          <p:nvSpPr>
            <p:cNvPr name="TextBox 13" id="13"/>
            <p:cNvSpPr txBox="true"/>
            <p:nvPr/>
          </p:nvSpPr>
          <p:spPr>
            <a:xfrm rot="0">
              <a:off x="0" y="449526"/>
              <a:ext cx="8077200" cy="520700"/>
            </a:xfrm>
            <a:prstGeom prst="rect">
              <a:avLst/>
            </a:prstGeom>
          </p:spPr>
          <p:txBody>
            <a:bodyPr anchor="t" rtlCol="false" tIns="0" lIns="0" bIns="0" rIns="0">
              <a:spAutoFit/>
            </a:bodyPr>
            <a:lstStyle/>
            <a:p>
              <a:pPr algn="ctr" marL="0" indent="0" lvl="0">
                <a:lnSpc>
                  <a:spcPts val="2880"/>
                </a:lnSpc>
              </a:pPr>
              <a:r>
                <a:rPr lang="en-US" sz="2400">
                  <a:solidFill>
                    <a:srgbClr val="444444"/>
                  </a:solidFill>
                  <a:latin typeface="Codec Pro"/>
                  <a:ea typeface="Codec Pro"/>
                  <a:cs typeface="Codec Pro"/>
                  <a:sym typeface="Codec Pro"/>
                </a:rPr>
                <a:t>123-456-7890</a:t>
              </a:r>
            </a:p>
          </p:txBody>
        </p:sp>
      </p:grpSp>
      <p:grpSp>
        <p:nvGrpSpPr>
          <p:cNvPr name="Group 14" id="14"/>
          <p:cNvGrpSpPr/>
          <p:nvPr/>
        </p:nvGrpSpPr>
        <p:grpSpPr>
          <a:xfrm rot="0">
            <a:off x="8991600" y="7997244"/>
            <a:ext cx="6057900" cy="727670"/>
            <a:chOff x="0" y="0"/>
            <a:chExt cx="8077200" cy="970226"/>
          </a:xfrm>
        </p:grpSpPr>
        <p:sp>
          <p:nvSpPr>
            <p:cNvPr name="TextBox 15" id="15"/>
            <p:cNvSpPr txBox="true"/>
            <p:nvPr/>
          </p:nvSpPr>
          <p:spPr>
            <a:xfrm rot="0">
              <a:off x="0" y="-38100"/>
              <a:ext cx="8077200" cy="520700"/>
            </a:xfrm>
            <a:prstGeom prst="rect">
              <a:avLst/>
            </a:prstGeom>
          </p:spPr>
          <p:txBody>
            <a:bodyPr anchor="t" rtlCol="false" tIns="0" lIns="0" bIns="0" rIns="0">
              <a:spAutoFit/>
            </a:bodyPr>
            <a:lstStyle/>
            <a:p>
              <a:pPr algn="ctr" marL="0" indent="0" lvl="0">
                <a:lnSpc>
                  <a:spcPts val="2880"/>
                </a:lnSpc>
                <a:spcBef>
                  <a:spcPct val="0"/>
                </a:spcBef>
              </a:pPr>
              <a:r>
                <a:rPr lang="en-US" b="true" sz="2400" strike="noStrike" u="none">
                  <a:solidFill>
                    <a:srgbClr val="444444"/>
                  </a:solidFill>
                  <a:latin typeface="Codec Pro Ultra-Bold"/>
                  <a:ea typeface="Codec Pro Ultra-Bold"/>
                  <a:cs typeface="Codec Pro Ultra-Bold"/>
                  <a:sym typeface="Codec Pro Ultra-Bold"/>
                </a:rPr>
                <a:t>SOCIAL MEDIA</a:t>
              </a:r>
            </a:p>
          </p:txBody>
        </p:sp>
        <p:sp>
          <p:nvSpPr>
            <p:cNvPr name="TextBox 16" id="16"/>
            <p:cNvSpPr txBox="true"/>
            <p:nvPr/>
          </p:nvSpPr>
          <p:spPr>
            <a:xfrm rot="0">
              <a:off x="0" y="449526"/>
              <a:ext cx="8077200" cy="520700"/>
            </a:xfrm>
            <a:prstGeom prst="rect">
              <a:avLst/>
            </a:prstGeom>
          </p:spPr>
          <p:txBody>
            <a:bodyPr anchor="t" rtlCol="false" tIns="0" lIns="0" bIns="0" rIns="0">
              <a:spAutoFit/>
            </a:bodyPr>
            <a:lstStyle/>
            <a:p>
              <a:pPr algn="ctr" marL="0" indent="0" lvl="0">
                <a:lnSpc>
                  <a:spcPts val="2880"/>
                </a:lnSpc>
              </a:pPr>
              <a:r>
                <a:rPr lang="en-US" sz="2400">
                  <a:solidFill>
                    <a:srgbClr val="444444"/>
                  </a:solidFill>
                  <a:latin typeface="Codec Pro"/>
                  <a:ea typeface="Codec Pro"/>
                  <a:cs typeface="Codec Pro"/>
                  <a:sym typeface="Codec Pro"/>
                </a:rPr>
                <a:t>@reallygreatsite</a:t>
              </a:r>
            </a:p>
          </p:txBody>
        </p:sp>
      </p:grpSp>
      <p:sp>
        <p:nvSpPr>
          <p:cNvPr name="Freeform 17" id="17"/>
          <p:cNvSpPr/>
          <p:nvPr/>
        </p:nvSpPr>
        <p:spPr>
          <a:xfrm flipH="false" flipV="false" rot="5400000">
            <a:off x="727580" y="2266950"/>
            <a:ext cx="7158835" cy="5753100"/>
          </a:xfrm>
          <a:custGeom>
            <a:avLst/>
            <a:gdLst/>
            <a:ahLst/>
            <a:cxnLst/>
            <a:rect r="r" b="b" t="t" l="l"/>
            <a:pathLst>
              <a:path h="5753100" w="7158835">
                <a:moveTo>
                  <a:pt x="0" y="0"/>
                </a:moveTo>
                <a:lnTo>
                  <a:pt x="7158835" y="0"/>
                </a:lnTo>
                <a:lnTo>
                  <a:pt x="7158835" y="5753100"/>
                </a:lnTo>
                <a:lnTo>
                  <a:pt x="0" y="5753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Hospital Patient Record System</dc:description>
  <dc:identifier>DAG4mW-EQKc</dc:identifier>
  <dcterms:modified xsi:type="dcterms:W3CDTF">2011-08-01T06:04:30Z</dcterms:modified>
  <cp:revision>1</cp:revision>
  <dc:title>Presentation - Hospital Patient Record System</dc:title>
</cp:coreProperties>
</file>